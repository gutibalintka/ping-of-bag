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57" r:id="rId11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D20E0D-0B2C-F3E0-E228-35E3CA65E0CF}" v="666" dt="2026-04-26T20:57:23.386"/>
    <p1510:client id="{E941ED0C-6436-7314-A389-41820FE62F31}" v="457" dt="2026-04-26T21:03:35.9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5" autoAdjust="0"/>
    <p:restoredTop sz="94660"/>
  </p:normalViewPr>
  <p:slideViewPr>
    <p:cSldViewPr snapToGrid="0">
      <p:cViewPr varScale="1">
        <p:scale>
          <a:sx n="86" d="100"/>
          <a:sy n="86" d="100"/>
        </p:scale>
        <p:origin x="6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Alcím mintájának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31746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10502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63581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695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29168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97832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8127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3084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83066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63091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722557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F1901C-D33B-4565-A7E4-5DF903098DB6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98062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/>
            <a:r>
              <a:rPr lang="hu-HU" sz="6600"/>
              <a:t>Kutatóbázis Projekt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126680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hu-HU"/>
              <a:t>Készítette: Gúti Bálint, Follárdt Áron, György Gergő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7484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C1D8059-9296-9D20-C380-5978FBB52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hu-HU" sz="4000"/>
              <a:t>Rólunk (</a:t>
            </a:r>
            <a:r>
              <a:rPr lang="hu-HU" sz="4000">
                <a:latin typeface="Aptos"/>
              </a:rPr>
              <a:t>Ping of BÁG)</a:t>
            </a:r>
            <a:endParaRPr lang="hu-HU" sz="40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DA2DCEF-FF20-9C3D-1C91-5B7F0046F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hu-HU" sz="2200"/>
              <a:t>A csapat tagjai CCNA 1-3 tanúsítványokkal rendelkeznek</a:t>
            </a:r>
          </a:p>
          <a:p>
            <a:pPr marL="0" indent="0">
              <a:buNone/>
            </a:pPr>
            <a:r>
              <a:rPr lang="hu-HU" sz="2200"/>
              <a:t>Három fős informatikai csapat</a:t>
            </a:r>
          </a:p>
          <a:p>
            <a:pPr marL="0" indent="0">
              <a:buNone/>
            </a:pPr>
            <a:r>
              <a:rPr lang="hu-HU" sz="2200">
                <a:ea typeface="+mn-lt"/>
                <a:cs typeface="+mn-lt"/>
              </a:rPr>
              <a:t>Hálózati infrastruktúrák tervezésével és megvalósításával foglalkozunk.</a:t>
            </a:r>
            <a:endParaRPr lang="hu-HU" sz="2200"/>
          </a:p>
          <a:p>
            <a:pPr marL="0" indent="0">
              <a:buNone/>
            </a:pPr>
            <a:endParaRPr lang="hu-HU" sz="2200"/>
          </a:p>
          <a:p>
            <a:pPr marL="0" indent="0">
              <a:buNone/>
            </a:pPr>
            <a:endParaRPr lang="hu-HU" sz="2200"/>
          </a:p>
          <a:p>
            <a:pPr marL="0" indent="0">
              <a:buNone/>
            </a:pPr>
            <a:endParaRPr lang="hu-HU" sz="2200"/>
          </a:p>
          <a:p>
            <a:pPr marL="0" indent="0">
              <a:buNone/>
            </a:pPr>
            <a:endParaRPr lang="hu-HU" sz="2200"/>
          </a:p>
        </p:txBody>
      </p:sp>
    </p:spTree>
    <p:extLst>
      <p:ext uri="{BB962C8B-B14F-4D97-AF65-F5344CB8AC3E}">
        <p14:creationId xmlns:p14="http://schemas.microsoft.com/office/powerpoint/2010/main" val="3680030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57C2259-7C12-B016-28CD-C8E9AB7C9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hu-HU" sz="4000"/>
              <a:t>Projekt bemutatása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BADD278-5499-2F6D-2655-15F2941AA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hu-HU" sz="2200"/>
              <a:t>A Thermofischer Scientific megbízására három telephely teljes informatikai infrastruktújának megtervezése, kiépítése, bekonfigurálása</a:t>
            </a:r>
          </a:p>
          <a:p>
            <a:pPr marL="0" indent="0">
              <a:buNone/>
            </a:pPr>
            <a:endParaRPr lang="hu-HU" sz="2200"/>
          </a:p>
          <a:p>
            <a:r>
              <a:rPr lang="hu-HU" sz="2200"/>
              <a:t>A három telephelyen a legmodernebb technológiák alkalmazása</a:t>
            </a:r>
          </a:p>
          <a:p>
            <a:pPr marL="0" indent="0">
              <a:buNone/>
            </a:pPr>
            <a:endParaRPr lang="hu-HU" sz="2200"/>
          </a:p>
          <a:p>
            <a:r>
              <a:rPr lang="hu-HU" sz="2200"/>
              <a:t>A központ, mintavételi labor, valamint a Fejlesztési és Innovációs központ közötti biztonságos adatátvitel</a:t>
            </a:r>
          </a:p>
          <a:p>
            <a:endParaRPr lang="hu-HU" sz="2200"/>
          </a:p>
        </p:txBody>
      </p:sp>
    </p:spTree>
    <p:extLst>
      <p:ext uri="{BB962C8B-B14F-4D97-AF65-F5344CB8AC3E}">
        <p14:creationId xmlns:p14="http://schemas.microsoft.com/office/powerpoint/2010/main" val="778338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58256" y="-358254"/>
            <a:ext cx="6858000" cy="7574507"/>
          </a:xfrm>
          <a:prstGeom prst="rect">
            <a:avLst/>
          </a:prstGeom>
          <a:ln>
            <a:noFill/>
          </a:ln>
          <a:effectLst>
            <a:outerShdw blurRad="457200" dist="63500" sx="99000" sy="99000" algn="l" rotWithShape="0">
              <a:prstClr val="black">
                <a:alpha val="1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6FB4163-1FC5-5F22-A6CB-A93DC134B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45" y="5546162"/>
            <a:ext cx="6661702" cy="953611"/>
          </a:xfrm>
        </p:spPr>
        <p:txBody>
          <a:bodyPr anchor="ctr">
            <a:normAutofit/>
          </a:bodyPr>
          <a:lstStyle/>
          <a:p>
            <a:r>
              <a:rPr lang="hu-HU" sz="4000"/>
              <a:t>Központ telephely</a:t>
            </a:r>
          </a:p>
        </p:txBody>
      </p:sp>
      <p:pic>
        <p:nvPicPr>
          <p:cNvPr id="4" name="Kép 3" descr="A képen képernyőkép, diagram, térkép, sor látható&#10;&#10;Lehet, hogy az AI által létrehozott tartalom helytelen.">
            <a:extLst>
              <a:ext uri="{FF2B5EF4-FFF2-40B4-BE49-F238E27FC236}">
                <a16:creationId xmlns:a16="http://schemas.microsoft.com/office/drawing/2014/main" id="{4749EBF8-965F-4058-0B8F-7D4CCCD8D6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" b="3682"/>
          <a:stretch>
            <a:fillRect/>
          </a:stretch>
        </p:blipFill>
        <p:spPr>
          <a:xfrm>
            <a:off x="20" y="-1"/>
            <a:ext cx="7574488" cy="5161587"/>
          </a:xfrm>
          <a:prstGeom prst="rect">
            <a:avLst/>
          </a:prstGeom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277F21B5-3343-E457-DCCD-9A75CE070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40064" y="743803"/>
            <a:ext cx="3144523" cy="547417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z="2000"/>
              <a:t>Használt technológiák:</a:t>
            </a:r>
          </a:p>
          <a:p>
            <a:r>
              <a:rPr lang="hu-HU" sz="2000"/>
              <a:t>HSRP</a:t>
            </a:r>
          </a:p>
          <a:p>
            <a:r>
              <a:rPr lang="hu-HU" sz="2000"/>
              <a:t>EtherChannel</a:t>
            </a:r>
          </a:p>
          <a:p>
            <a:r>
              <a:rPr lang="hu-HU" sz="2000"/>
              <a:t>WLC WIFI</a:t>
            </a:r>
          </a:p>
          <a:p>
            <a:r>
              <a:rPr lang="hu-HU" sz="2000"/>
              <a:t>ASA tűzfal</a:t>
            </a:r>
          </a:p>
          <a:p>
            <a:r>
              <a:rPr lang="hu-HU" sz="2000"/>
              <a:t>ACL</a:t>
            </a:r>
          </a:p>
          <a:p>
            <a:r>
              <a:rPr lang="hu-HU" sz="2000"/>
              <a:t>DHCP</a:t>
            </a:r>
          </a:p>
          <a:p>
            <a:r>
              <a:rPr lang="hu-HU" sz="2000"/>
              <a:t>Statikus NAT</a:t>
            </a:r>
          </a:p>
          <a:p>
            <a:r>
              <a:rPr lang="hu-HU" sz="2000"/>
              <a:t>VPN</a:t>
            </a:r>
          </a:p>
          <a:p>
            <a:r>
              <a:rPr lang="hu-HU" sz="2000"/>
              <a:t>Vlanok</a:t>
            </a:r>
          </a:p>
          <a:p>
            <a:endParaRPr lang="hu-HU" sz="2000"/>
          </a:p>
        </p:txBody>
      </p:sp>
    </p:spTree>
    <p:extLst>
      <p:ext uri="{BB962C8B-B14F-4D97-AF65-F5344CB8AC3E}">
        <p14:creationId xmlns:p14="http://schemas.microsoft.com/office/powerpoint/2010/main" val="35624025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84ECDE7A-6944-466D-8FFE-149A29BA6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3420082-9415-44EC-802E-C77D71D59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55A52C45-1FCB-4636-A80F-2849B8226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48F3636-4584-3C0C-E6EB-E016D2409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hu-HU" sz="4000"/>
              <a:t>Fejlesztési és Innovációs Központ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68EB4DD-3704-43AD-92B3-C4E0C6EA9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7079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Kép 3" descr="A képen képernyőkép, diagram, Tervrajz, térkép látható&#10;&#10;Lehet, hogy az AI által létrehozott tartalom helytelen.">
            <a:extLst>
              <a:ext uri="{FF2B5EF4-FFF2-40B4-BE49-F238E27FC236}">
                <a16:creationId xmlns:a16="http://schemas.microsoft.com/office/drawing/2014/main" id="{322FF760-C8F7-8691-7C30-228BC632CC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20" r="11246" b="2"/>
          <a:stretch>
            <a:fillRect/>
          </a:stretch>
        </p:blipFill>
        <p:spPr>
          <a:xfrm>
            <a:off x="908304" y="2478024"/>
            <a:ext cx="6009855" cy="3694176"/>
          </a:xfrm>
          <a:prstGeom prst="rect">
            <a:avLst/>
          </a:prstGeom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3F405850-305A-107A-8E44-2DE207C542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1453" y="2478024"/>
            <a:ext cx="3872243" cy="36941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z="1700"/>
              <a:t>Használt technológiák:</a:t>
            </a:r>
          </a:p>
          <a:p>
            <a:r>
              <a:rPr lang="hu-HU" sz="1700"/>
              <a:t>Dhcp</a:t>
            </a:r>
          </a:p>
          <a:p>
            <a:r>
              <a:rPr lang="hu-HU" sz="1700"/>
              <a:t>Dhcp v6</a:t>
            </a:r>
          </a:p>
          <a:p>
            <a:r>
              <a:rPr lang="hu-HU" sz="1700"/>
              <a:t>Vlanok</a:t>
            </a:r>
          </a:p>
          <a:p>
            <a:r>
              <a:rPr lang="hu-HU" sz="1700"/>
              <a:t>ACL</a:t>
            </a:r>
          </a:p>
          <a:p>
            <a:r>
              <a:rPr lang="hu-HU" sz="1700"/>
              <a:t>Dual Stack</a:t>
            </a:r>
          </a:p>
          <a:p>
            <a:r>
              <a:rPr lang="hu-HU" sz="1700"/>
              <a:t>WLC WIFI</a:t>
            </a:r>
          </a:p>
          <a:p>
            <a:r>
              <a:rPr lang="hu-HU" sz="1700"/>
              <a:t>VPN</a:t>
            </a:r>
          </a:p>
          <a:p>
            <a:r>
              <a:rPr lang="hu-HU" sz="1700"/>
              <a:t>EIGRP</a:t>
            </a:r>
          </a:p>
          <a:p>
            <a:r>
              <a:rPr lang="hu-HU" sz="1700"/>
              <a:t>EIGRP for IPv6</a:t>
            </a:r>
          </a:p>
          <a:p>
            <a:endParaRPr lang="hu-HU" sz="1700"/>
          </a:p>
        </p:txBody>
      </p:sp>
    </p:spTree>
    <p:extLst>
      <p:ext uri="{BB962C8B-B14F-4D97-AF65-F5344CB8AC3E}">
        <p14:creationId xmlns:p14="http://schemas.microsoft.com/office/powerpoint/2010/main" val="3348914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2D1F0DD-8B12-A56F-D146-3F9859902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hu-HU" sz="5400"/>
              <a:t>Mintavételi labor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3F44D74-5F55-0B32-7D99-A983593C16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 sz="2200"/>
              <a:t>Használt technológiák:</a:t>
            </a:r>
          </a:p>
          <a:p>
            <a:r>
              <a:rPr lang="hu-HU" sz="2200"/>
              <a:t>VLAN-ok</a:t>
            </a:r>
          </a:p>
          <a:p>
            <a:r>
              <a:rPr lang="hu-HU" sz="2200"/>
              <a:t>DHCP</a:t>
            </a:r>
          </a:p>
          <a:p>
            <a:r>
              <a:rPr lang="hu-HU" sz="2200"/>
              <a:t>WLC WiFi</a:t>
            </a:r>
          </a:p>
          <a:p>
            <a:r>
              <a:rPr lang="hu-HU" sz="2200"/>
              <a:t>DHCP Snooping</a:t>
            </a:r>
          </a:p>
          <a:p>
            <a:r>
              <a:rPr lang="hu-HU" sz="2200"/>
              <a:t>Port Security</a:t>
            </a:r>
          </a:p>
          <a:p>
            <a:r>
              <a:rPr lang="hu-HU" sz="2200"/>
              <a:t>PVST</a:t>
            </a:r>
          </a:p>
          <a:p>
            <a:endParaRPr lang="hu-HU" sz="2200"/>
          </a:p>
          <a:p>
            <a:endParaRPr lang="hu-HU" sz="2200"/>
          </a:p>
        </p:txBody>
      </p:sp>
      <p:pic>
        <p:nvPicPr>
          <p:cNvPr id="4" name="Kép 3" descr="A képen diagram, szöveg, kör, illusztráció látható&#10;&#10;Lehet, hogy az AI által létrehozott tartalom helytelen.">
            <a:extLst>
              <a:ext uri="{FF2B5EF4-FFF2-40B4-BE49-F238E27FC236}">
                <a16:creationId xmlns:a16="http://schemas.microsoft.com/office/drawing/2014/main" id="{A84D064B-645F-9CFA-B5C2-BF6C095364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401032"/>
            <a:ext cx="6903720" cy="4055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767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8">
            <a:extLst>
              <a:ext uri="{FF2B5EF4-FFF2-40B4-BE49-F238E27FC236}">
                <a16:creationId xmlns:a16="http://schemas.microsoft.com/office/drawing/2014/main" id="{AA474011-A49D-4C7A-BF41-0ACD0A2693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0">
            <a:extLst>
              <a:ext uri="{FF2B5EF4-FFF2-40B4-BE49-F238E27FC236}">
                <a16:creationId xmlns:a16="http://schemas.microsoft.com/office/drawing/2014/main" id="{6D72081E-AD41-4FBB-B02B-698A68DBCA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421890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564CAC7-E2FA-F934-8B75-C3A351AB3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560" y="4444332"/>
            <a:ext cx="3558466" cy="1645920"/>
          </a:xfrm>
        </p:spPr>
        <p:txBody>
          <a:bodyPr>
            <a:normAutofit/>
          </a:bodyPr>
          <a:lstStyle/>
          <a:p>
            <a:r>
              <a:rPr lang="hu-HU" sz="3200"/>
              <a:t>Internetszolgáltatók</a:t>
            </a:r>
          </a:p>
        </p:txBody>
      </p:sp>
      <p:pic>
        <p:nvPicPr>
          <p:cNvPr id="4" name="Kép 3" descr="A képen sor, diagram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DFE3FAD4-5752-4174-4414-D19FCC81F5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450" y="374904"/>
            <a:ext cx="9889491" cy="3609664"/>
          </a:xfrm>
          <a:prstGeom prst="rect">
            <a:avLst/>
          </a:prstGeom>
        </p:spPr>
      </p:pic>
      <p:sp>
        <p:nvSpPr>
          <p:cNvPr id="20" name="Rectangle 12">
            <a:extLst>
              <a:ext uri="{FF2B5EF4-FFF2-40B4-BE49-F238E27FC236}">
                <a16:creationId xmlns:a16="http://schemas.microsoft.com/office/drawing/2014/main" id="{716248AD-805F-41BF-9B57-FC53E5B32F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491151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14">
            <a:extLst>
              <a:ext uri="{FF2B5EF4-FFF2-40B4-BE49-F238E27FC236}">
                <a16:creationId xmlns:a16="http://schemas.microsoft.com/office/drawing/2014/main" id="{1F82758F-B2B3-4F0A-BB90-4BFFEDD166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525441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C637397-8F7A-5990-50B0-A0DE1A1A4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9240" y="4440602"/>
            <a:ext cx="6007608" cy="16459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z="1800"/>
              <a:t>ISP-k által használt technológiák:</a:t>
            </a:r>
          </a:p>
          <a:p>
            <a:r>
              <a:rPr lang="hu-HU" sz="1800"/>
              <a:t>EIGRP</a:t>
            </a:r>
          </a:p>
          <a:p>
            <a:r>
              <a:rPr lang="hu-HU" sz="1800"/>
              <a:t>EIGRP for IPv6</a:t>
            </a:r>
          </a:p>
          <a:p>
            <a:r>
              <a:rPr lang="hu-HU" sz="1800"/>
              <a:t>Dual stack</a:t>
            </a:r>
            <a:endParaRPr lang="hu-HU" sz="1800" dirty="0"/>
          </a:p>
          <a:p>
            <a:endParaRPr lang="hu-HU" sz="1800"/>
          </a:p>
        </p:txBody>
      </p:sp>
    </p:spTree>
    <p:extLst>
      <p:ext uri="{BB962C8B-B14F-4D97-AF65-F5344CB8AC3E}">
        <p14:creationId xmlns:p14="http://schemas.microsoft.com/office/powerpoint/2010/main" val="9126752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DCCC4FD-F72D-D55D-9D4B-0D56067CC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hu-HU" sz="4000"/>
              <a:t>Megvalósítás közbeni problémák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FED03D7-95D7-5923-CC31-3582BD3B1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hu-HU" sz="2200"/>
              <a:t>ASA parancsok hiánya Packet Tracerben</a:t>
            </a:r>
          </a:p>
          <a:p>
            <a:r>
              <a:rPr lang="hu-HU" sz="2200"/>
              <a:t>VPN megvalósítása ASA-ban</a:t>
            </a:r>
          </a:p>
          <a:p>
            <a:r>
              <a:rPr lang="hu-HU" sz="2200"/>
              <a:t>Netmiko kód megírása</a:t>
            </a:r>
          </a:p>
          <a:p>
            <a:r>
              <a:rPr lang="hu-HU" sz="2200"/>
              <a:t>ISP-k közötti route</a:t>
            </a:r>
          </a:p>
          <a:p>
            <a:r>
              <a:rPr lang="hu-HU" sz="2200"/>
              <a:t>Dual Stack</a:t>
            </a:r>
          </a:p>
        </p:txBody>
      </p:sp>
    </p:spTree>
    <p:extLst>
      <p:ext uri="{BB962C8B-B14F-4D97-AF65-F5344CB8AC3E}">
        <p14:creationId xmlns:p14="http://schemas.microsoft.com/office/powerpoint/2010/main" val="3872721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E000130-DC20-511B-64A2-FE05EAA85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hu-HU" sz="4000"/>
              <a:t>Kérdések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7A6FE64-1433-3151-5049-E0E0BFEABE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endParaRPr lang="hu-HU" sz="2200"/>
          </a:p>
        </p:txBody>
      </p:sp>
    </p:spTree>
    <p:extLst>
      <p:ext uri="{BB962C8B-B14F-4D97-AF65-F5344CB8AC3E}">
        <p14:creationId xmlns:p14="http://schemas.microsoft.com/office/powerpoint/2010/main" val="11100330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83DB3B3-1130-B8D9-F0BC-AF7FA7429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hu-HU" sz="4000"/>
              <a:t>Köszönjük a figyelmet!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628F1D-A1CA-2D67-4911-2C65ABAE3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endParaRPr lang="hu-HU" sz="2200"/>
          </a:p>
        </p:txBody>
      </p:sp>
    </p:spTree>
    <p:extLst>
      <p:ext uri="{BB962C8B-B14F-4D97-AF65-F5344CB8AC3E}">
        <p14:creationId xmlns:p14="http://schemas.microsoft.com/office/powerpoint/2010/main" val="25359141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Szélesvásznú</PresentationFormat>
  <Paragraphs>0</Paragraphs>
  <Slides>10</Slides>
  <Notes>0</Notes>
  <HiddenSlides>0</HiddenSlides>
  <MMClips>0</MMClip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1" baseType="lpstr">
      <vt:lpstr>Office-téma</vt:lpstr>
      <vt:lpstr>Kutatóbázis Projekt</vt:lpstr>
      <vt:lpstr>Rólunk (Ping of BÁG)</vt:lpstr>
      <vt:lpstr>Projekt bemutatása</vt:lpstr>
      <vt:lpstr>Központ telephely</vt:lpstr>
      <vt:lpstr>Fejlesztési és Innovációs Központ</vt:lpstr>
      <vt:lpstr>Mintavételi labor</vt:lpstr>
      <vt:lpstr>Internetszolgáltatók</vt:lpstr>
      <vt:lpstr>Megvalósítás közbeni problémák</vt:lpstr>
      <vt:lpstr>Kérdések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353</cp:revision>
  <dcterms:created xsi:type="dcterms:W3CDTF">2026-04-26T20:13:37Z</dcterms:created>
  <dcterms:modified xsi:type="dcterms:W3CDTF">2026-04-26T21:05:11Z</dcterms:modified>
</cp:coreProperties>
</file>